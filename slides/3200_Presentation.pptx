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70" r:id="rId6"/>
    <p:sldId id="269" r:id="rId7"/>
    <p:sldId id="267" r:id="rId8"/>
    <p:sldId id="271" r:id="rId9"/>
    <p:sldId id="268" r:id="rId10"/>
    <p:sldId id="272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125FA-3167-D59F-FC03-314AAC09278B}" v="190" dt="2026-05-04T07:32:12.951"/>
    <p1510:client id="{597FFC6C-95AD-4618-4A2C-0D462DD07473}" v="488" dt="2026-05-04T09:05:11.017"/>
    <p1510:client id="{66E3A7AD-2B28-D293-6B4D-6A298EFD89E0}" v="191" dt="2026-05-04T08:09:58.047"/>
    <p1510:client id="{82011AD7-4AF6-9C5C-1108-3282E8572430}" v="8" dt="2026-05-04T17:55:50.617"/>
    <p1510:client id="{AF02AB2D-128E-AAEB-6ED5-9DD6BB2B9195}" v="253" dt="2026-05-04T09:26:52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dwaaardge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628" y="-1276516"/>
            <a:ext cx="6596245" cy="3268520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NYC Taxi Trip Data Analysis</a:t>
            </a: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0664" y="2170293"/>
            <a:ext cx="6051236" cy="1241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Using Elasticsearch, Kibana, and Python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2419A-2D01-95F7-5FFF-C5A92F88FAB2}"/>
              </a:ext>
            </a:extLst>
          </p:cNvPr>
          <p:cNvSpPr txBox="1"/>
          <p:nvPr/>
        </p:nvSpPr>
        <p:spPr>
          <a:xfrm>
            <a:off x="1413710" y="2787317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CIS 3200 – Data Processing and Analytics </a:t>
            </a:r>
          </a:p>
          <a:p>
            <a:pPr algn="ctr"/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</a:rPr>
              <a:t>Instructor: Dr. Woo</a:t>
            </a:r>
          </a:p>
          <a:p>
            <a:pPr algn="ctr"/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</a:rPr>
              <a:t>Presented by: Ruben Chagollan​</a:t>
            </a:r>
          </a:p>
          <a:p>
            <a:pPr algn="ctr" rtl="0"/>
            <a:r>
              <a:rPr lang="en-US">
                <a:solidFill>
                  <a:schemeClr val="bg1"/>
                </a:solidFill>
              </a:rPr>
              <a:t>Edward Gallegos​</a:t>
            </a:r>
          </a:p>
          <a:p>
            <a:pPr algn="ctr" rtl="0"/>
            <a:r>
              <a:rPr lang="en-US">
                <a:solidFill>
                  <a:schemeClr val="bg1"/>
                </a:solidFill>
              </a:rPr>
              <a:t>Jordy Moreno​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Giovanni Clara</a:t>
            </a:r>
          </a:p>
          <a:p>
            <a:pPr algn="ctr"/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</a:rPr>
              <a:t>May 6, 2026​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C92EE-A188-8C58-E22D-68C59DC2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Dataset and Data Source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5356B-5C37-2C8D-C151-F94E2412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59" y="1891477"/>
            <a:ext cx="3792923" cy="442503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Dataset:</a:t>
            </a:r>
            <a:endParaRPr lang="en-US" sz="2400" b="1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NYC Yellow Taxi Trip Records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Source: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NYC Taxi &amp; Limousine Commission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Month: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March 2026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FF88B3-02F8-3ED8-C68F-8D4F77570CDA}"/>
              </a:ext>
            </a:extLst>
          </p:cNvPr>
          <p:cNvSpPr txBox="1">
            <a:spLocks/>
          </p:cNvSpPr>
          <p:nvPr/>
        </p:nvSpPr>
        <p:spPr>
          <a:xfrm>
            <a:off x="3675837" y="2110583"/>
            <a:ext cx="4036763" cy="34293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Original Data: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3,952,451 rows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20 columns</a:t>
            </a:r>
            <a:endParaRPr lang="en-US" sz="2400"/>
          </a:p>
          <a:p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Project Data: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150,000 rows / 12.8 MB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100,000 geo rows / 28.2 MB</a:t>
            </a:r>
            <a:endParaRPr lang="en-US" sz="24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EEA0C5-252D-03E7-F8D3-A3B29C8DB515}"/>
              </a:ext>
            </a:extLst>
          </p:cNvPr>
          <p:cNvSpPr txBox="1">
            <a:spLocks/>
          </p:cNvSpPr>
          <p:nvPr/>
        </p:nvSpPr>
        <p:spPr>
          <a:xfrm>
            <a:off x="8379019" y="2332038"/>
            <a:ext cx="3389354" cy="2994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Key Fields: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>
                <a:ea typeface="+mn-lt"/>
                <a:cs typeface="+mn-lt"/>
              </a:rPr>
              <a:t>Pickup/drop-off time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>
                <a:ea typeface="+mn-lt"/>
                <a:cs typeface="+mn-lt"/>
              </a:rPr>
              <a:t> Trip distance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>
                <a:ea typeface="+mn-lt"/>
                <a:cs typeface="+mn-lt"/>
              </a:rPr>
              <a:t>Fare amount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>
                <a:ea typeface="+mn-lt"/>
                <a:cs typeface="+mn-lt"/>
              </a:rPr>
              <a:t>Passenger count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>
                <a:ea typeface="+mn-lt"/>
                <a:cs typeface="+mn-lt"/>
              </a:rPr>
              <a:t>Location IDs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06745-045C-E6A6-252D-0DD2612995DF}"/>
              </a:ext>
            </a:extLst>
          </p:cNvPr>
          <p:cNvSpPr txBox="1"/>
          <p:nvPr/>
        </p:nvSpPr>
        <p:spPr>
          <a:xfrm>
            <a:off x="4552778" y="6320756"/>
            <a:ext cx="81381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Data Source:</a:t>
            </a:r>
            <a:r>
              <a:rPr lang="en-US"/>
              <a:t> https://www.nyc.gov/site/tlc/about/tlc-trip-record-data.page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1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B2864-6B44-0774-FAF3-0D20525F6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Platform / Environment Specs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5D2F1-7B1B-F3FA-32D4-B013FDE86C7F}"/>
              </a:ext>
            </a:extLst>
          </p:cNvPr>
          <p:cNvSpPr txBox="1"/>
          <p:nvPr/>
        </p:nvSpPr>
        <p:spPr>
          <a:xfrm>
            <a:off x="216106" y="1599376"/>
            <a:ext cx="32918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Cloud Platform:</a:t>
            </a:r>
            <a:br>
              <a:rPr lang="en-US" sz="2400"/>
            </a:br>
            <a:r>
              <a:rPr lang="en-US" sz="2400"/>
              <a:t>Elastic Cloud / Kibana</a:t>
            </a:r>
          </a:p>
          <a:p>
            <a:pPr algn="ctr"/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FD09F-68AE-D7C4-A277-323DC0C34F64}"/>
              </a:ext>
            </a:extLst>
          </p:cNvPr>
          <p:cNvSpPr txBox="1"/>
          <p:nvPr/>
        </p:nvSpPr>
        <p:spPr>
          <a:xfrm>
            <a:off x="4053840" y="1894842"/>
            <a:ext cx="813816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Elasticsearch Indexes:</a:t>
            </a:r>
            <a:br>
              <a:rPr lang="en-US" sz="2400"/>
            </a:br>
            <a:r>
              <a:rPr lang="en-US" sz="2400"/>
              <a:t>- nyc_taxi</a:t>
            </a:r>
            <a:br>
              <a:rPr lang="en-US" sz="2400"/>
            </a:br>
            <a:r>
              <a:rPr lang="en-US" sz="2400"/>
              <a:t>- nyc_taxi_geo2</a:t>
            </a:r>
            <a:br>
              <a:rPr lang="en-US" sz="2400"/>
            </a:br>
            <a:br>
              <a:rPr lang="en-US" sz="2400"/>
            </a:br>
            <a:r>
              <a:rPr lang="en-US" sz="2400" b="1"/>
              <a:t>Data Processing:</a:t>
            </a:r>
            <a:br>
              <a:rPr lang="en-US" sz="2400"/>
            </a:br>
            <a:r>
              <a:rPr lang="en-US" sz="2400"/>
              <a:t>Original Parquet file → cleaned CSV → geo-enhanced CSV</a:t>
            </a:r>
          </a:p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6F881-D1FA-889D-ADF8-8497089BEE2A}"/>
              </a:ext>
            </a:extLst>
          </p:cNvPr>
          <p:cNvSpPr txBox="1"/>
          <p:nvPr/>
        </p:nvSpPr>
        <p:spPr>
          <a:xfrm>
            <a:off x="3403875" y="6352609"/>
            <a:ext cx="878400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Purpose: Python prepared the data, Elasticsearch indexed it, and Kibana visualized it.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69639-AC3B-F707-99B0-2544C79B44AE}"/>
              </a:ext>
            </a:extLst>
          </p:cNvPr>
          <p:cNvSpPr txBox="1"/>
          <p:nvPr/>
        </p:nvSpPr>
        <p:spPr>
          <a:xfrm>
            <a:off x="216106" y="2536018"/>
            <a:ext cx="521208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ptos"/>
              </a:rPr>
              <a:t>Tools Used:</a:t>
            </a:r>
            <a:r>
              <a:rPr sz="2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b="1" err="1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000000"/>
                </a:solidFill>
                <a:latin typeface="Aptos"/>
              </a:rPr>
              <a:t>Python</a:t>
            </a:r>
            <a:endParaRPr lang="en-US">
              <a:solidFill>
                <a:srgbClr val="000000"/>
              </a:solidFill>
              <a:latin typeface="Aptos"/>
            </a:endParaRPr>
          </a:p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000000"/>
                </a:solidFill>
                <a:latin typeface="Aptos"/>
              </a:rPr>
              <a:t>Pandas</a:t>
            </a:r>
            <a:endParaRPr lang="en-US">
              <a:solidFill>
                <a:srgbClr val="000000"/>
              </a:solidFill>
              <a:latin typeface="Aptos"/>
            </a:endParaRPr>
          </a:p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000000"/>
                </a:solidFill>
                <a:latin typeface="Aptos"/>
              </a:rPr>
              <a:t>PyArrow</a:t>
            </a:r>
            <a:endParaRPr lang="en-US">
              <a:solidFill>
                <a:srgbClr val="000000"/>
              </a:solidFill>
              <a:latin typeface="Aptos"/>
            </a:endParaRPr>
          </a:p>
          <a:p>
            <a:pPr marL="342900" indent="-342900">
              <a:buFont typeface="Calibri"/>
              <a:buChar char="-"/>
            </a:pPr>
            <a:r>
              <a:rPr lang="en-US" sz="2400">
                <a:solidFill>
                  <a:srgbClr val="000000"/>
                </a:solidFill>
                <a:latin typeface="Aptos"/>
              </a:rPr>
              <a:t>GeoPandas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7CF59-D885-85CA-4673-00C062A37B72}"/>
              </a:ext>
            </a:extLst>
          </p:cNvPr>
          <p:cNvSpPr txBox="1"/>
          <p:nvPr/>
        </p:nvSpPr>
        <p:spPr>
          <a:xfrm>
            <a:off x="226266" y="4778358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Local Environment:</a:t>
            </a:r>
            <a:r>
              <a:rPr sz="2400" b="1"/>
              <a:t>​</a:t>
            </a:r>
            <a:br>
              <a:rPr sz="2400"/>
            </a:br>
            <a:r>
              <a:rPr lang="en-US" sz="2400"/>
              <a:t>- Windows 11</a:t>
            </a:r>
            <a:r>
              <a:rPr sz="2400"/>
              <a:t>​</a:t>
            </a:r>
            <a:br>
              <a:rPr sz="2400"/>
            </a:br>
            <a:r>
              <a:rPr lang="en-US" sz="2400"/>
              <a:t>- Python 3.13.13</a:t>
            </a:r>
          </a:p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19263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830C3-DFF6-7DD8-8930-B52EFDF7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BB2368-BA5A-6D1F-495A-D25E72EF1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F0F84B-0028-DE7E-DD70-4F1252CAA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0BA807-D1CD-98CE-8817-2AD30ACAE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464CE-104A-1F7B-F995-B3E29CE85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F98AC4-75FC-EF90-677C-732BBEC6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268925-665C-C95F-1CB7-C7ABEA1AF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ea typeface="+mj-lt"/>
                <a:cs typeface="+mj-lt"/>
              </a:rPr>
              <a:t>Workflow / Architecture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675DCB-BC7D-7CA3-ED96-CC6184372AE6}"/>
              </a:ext>
            </a:extLst>
          </p:cNvPr>
          <p:cNvSpPr/>
          <p:nvPr/>
        </p:nvSpPr>
        <p:spPr>
          <a:xfrm>
            <a:off x="554614" y="1889861"/>
            <a:ext cx="2077980" cy="108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NYC TLC Dataset</a:t>
            </a:r>
            <a:br>
              <a:rPr lang="en-US"/>
            </a:br>
            <a:r>
              <a:rPr lang="en-US"/>
              <a:t>(</a:t>
            </a:r>
            <a:r>
              <a:rPr lang="en-US">
                <a:ea typeface="+mn-lt"/>
                <a:cs typeface="+mn-lt"/>
              </a:rPr>
              <a:t>March</a:t>
            </a:r>
            <a:r>
              <a:rPr lang="en-US"/>
              <a:t> 2026 Yellow Taxi Data)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3B65A-7B7C-2EC8-6D74-EED062BDA23C}"/>
              </a:ext>
            </a:extLst>
          </p:cNvPr>
          <p:cNvSpPr/>
          <p:nvPr/>
        </p:nvSpPr>
        <p:spPr>
          <a:xfrm>
            <a:off x="3515170" y="1889860"/>
            <a:ext cx="2077980" cy="108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Python Data Cleaning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7B98BA-290F-56BC-2E17-71C48C47454B}"/>
              </a:ext>
            </a:extLst>
          </p:cNvPr>
          <p:cNvSpPr/>
          <p:nvPr/>
        </p:nvSpPr>
        <p:spPr>
          <a:xfrm>
            <a:off x="6494466" y="1889860"/>
            <a:ext cx="2077980" cy="108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Cleaned CSV Subset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(nyc_taxi_subset.csv)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F65190-143D-7979-DC85-FBF7BF14B23B}"/>
              </a:ext>
            </a:extLst>
          </p:cNvPr>
          <p:cNvSpPr/>
          <p:nvPr/>
        </p:nvSpPr>
        <p:spPr>
          <a:xfrm>
            <a:off x="9536220" y="1889861"/>
            <a:ext cx="2077980" cy="108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Taxi Zone Shapefile Join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56A8E-7E44-E8B9-F532-321A8963CB87}"/>
              </a:ext>
            </a:extLst>
          </p:cNvPr>
          <p:cNvSpPr/>
          <p:nvPr/>
        </p:nvSpPr>
        <p:spPr>
          <a:xfrm>
            <a:off x="554613" y="4388221"/>
            <a:ext cx="2077980" cy="108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Geo-Enhanced CSV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(nyc_taxi_subset_with_geo.csv)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80A3B0-FB04-340C-0693-1A7AF2085C60}"/>
              </a:ext>
            </a:extLst>
          </p:cNvPr>
          <p:cNvSpPr/>
          <p:nvPr/>
        </p:nvSpPr>
        <p:spPr>
          <a:xfrm>
            <a:off x="3515171" y="4388221"/>
            <a:ext cx="2077980" cy="108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Elasticsearch Indexes</a:t>
            </a:r>
          </a:p>
          <a:p>
            <a:pPr algn="ctr"/>
            <a:r>
              <a:rPr lang="en-US" err="1">
                <a:ea typeface="+mn-lt"/>
                <a:cs typeface="+mn-lt"/>
              </a:rPr>
              <a:t>nyc_taxi</a:t>
            </a:r>
            <a:r>
              <a:rPr lang="en-US">
                <a:ea typeface="+mn-lt"/>
                <a:cs typeface="+mn-lt"/>
              </a:rPr>
              <a:t> / nyc_taxi_geo2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1A8247-2160-B0DE-5CC4-0575A47E3961}"/>
              </a:ext>
            </a:extLst>
          </p:cNvPr>
          <p:cNvSpPr/>
          <p:nvPr/>
        </p:nvSpPr>
        <p:spPr>
          <a:xfrm>
            <a:off x="6494466" y="4388221"/>
            <a:ext cx="2077980" cy="108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Kibana Dashboard + Map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670378-EE14-DB3D-9685-D49EA310D740}"/>
              </a:ext>
            </a:extLst>
          </p:cNvPr>
          <p:cNvSpPr/>
          <p:nvPr/>
        </p:nvSpPr>
        <p:spPr>
          <a:xfrm>
            <a:off x="9536220" y="4388221"/>
            <a:ext cx="2077980" cy="1085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ML Fare Prediction </a:t>
            </a:r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98CCB7-0588-21F6-ED45-9F818BD932ED}"/>
              </a:ext>
            </a:extLst>
          </p:cNvPr>
          <p:cNvCxnSpPr/>
          <p:nvPr/>
        </p:nvCxnSpPr>
        <p:spPr>
          <a:xfrm>
            <a:off x="2712202" y="2428067"/>
            <a:ext cx="671593" cy="12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5C52D2-7D02-C4E0-D797-CD988821C3D1}"/>
              </a:ext>
            </a:extLst>
          </p:cNvPr>
          <p:cNvCxnSpPr>
            <a:cxnSpLocks/>
          </p:cNvCxnSpPr>
          <p:nvPr/>
        </p:nvCxnSpPr>
        <p:spPr>
          <a:xfrm>
            <a:off x="5760201" y="2428066"/>
            <a:ext cx="671593" cy="12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A289F2-7098-7AD3-455F-7AC5176ECA6B}"/>
              </a:ext>
            </a:extLst>
          </p:cNvPr>
          <p:cNvCxnSpPr>
            <a:cxnSpLocks/>
          </p:cNvCxnSpPr>
          <p:nvPr/>
        </p:nvCxnSpPr>
        <p:spPr>
          <a:xfrm>
            <a:off x="8704879" y="2428066"/>
            <a:ext cx="671593" cy="12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CB29D9-63B3-4CEC-AA20-8D7FB46C31F5}"/>
              </a:ext>
            </a:extLst>
          </p:cNvPr>
          <p:cNvCxnSpPr>
            <a:cxnSpLocks/>
          </p:cNvCxnSpPr>
          <p:nvPr/>
        </p:nvCxnSpPr>
        <p:spPr>
          <a:xfrm>
            <a:off x="2712202" y="4920711"/>
            <a:ext cx="671593" cy="12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5FC9E6-4AF5-2151-556A-CA65AB2D864C}"/>
              </a:ext>
            </a:extLst>
          </p:cNvPr>
          <p:cNvCxnSpPr>
            <a:cxnSpLocks/>
          </p:cNvCxnSpPr>
          <p:nvPr/>
        </p:nvCxnSpPr>
        <p:spPr>
          <a:xfrm>
            <a:off x="5643965" y="4920711"/>
            <a:ext cx="671593" cy="12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AE45F3B-89EB-A79F-5715-5986922B8109}"/>
              </a:ext>
            </a:extLst>
          </p:cNvPr>
          <p:cNvCxnSpPr>
            <a:cxnSpLocks/>
          </p:cNvCxnSpPr>
          <p:nvPr/>
        </p:nvCxnSpPr>
        <p:spPr>
          <a:xfrm>
            <a:off x="8704879" y="4920711"/>
            <a:ext cx="671593" cy="12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21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F0F43-FC74-C066-F8FD-1D6499C27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3810C8-BA57-0625-E30A-FE1730FEC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D2D28A-A0EF-BE6A-637F-0FA82F97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8C3A7-19EF-F31E-F39B-05E0E769F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94BC24-8C4B-CC52-42C6-F0187E3E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50088E-1A37-69C6-4C20-C69508EC2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9F7B4-4A7E-140E-C3E9-C0D1ABB4C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Elasticsearch Upload and Indexing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38FF89-EDD1-C608-5A3D-1A3885D1C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29924" cy="33216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Data Upload Method</a:t>
            </a:r>
            <a:endParaRPr lang="en-US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Kibana Data Visualizer</a:t>
            </a:r>
            <a:endParaRPr lang="en-US" sz="2400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4922B-56F1-1E60-2F77-3341158DF231}"/>
              </a:ext>
            </a:extLst>
          </p:cNvPr>
          <p:cNvSpPr txBox="1"/>
          <p:nvPr/>
        </p:nvSpPr>
        <p:spPr>
          <a:xfrm>
            <a:off x="3439297" y="1486243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endParaRPr lang="en-US" sz="2400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Indexes Created: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nyc_taxi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nyc_taxi_geo2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endParaRPr lang="en-US" sz="2400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E5DB6-FC12-5EBE-62EC-2B010733F3E1}"/>
              </a:ext>
            </a:extLst>
          </p:cNvPr>
          <p:cNvSpPr txBox="1"/>
          <p:nvPr/>
        </p:nvSpPr>
        <p:spPr>
          <a:xfrm>
            <a:off x="6597135" y="1856946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Files Uploaded: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nyc_taxi_subset.csv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nyc_taxi_subset_with_geo.csv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ctr"/>
            <a:endParaRPr lang="en-US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95E2DD-ACBB-C615-8B15-E5A511EDE50A}"/>
              </a:ext>
            </a:extLst>
          </p:cNvPr>
          <p:cNvSpPr txBox="1"/>
          <p:nvPr/>
        </p:nvSpPr>
        <p:spPr>
          <a:xfrm>
            <a:off x="659028" y="4644082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Geo Mapping: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pickup_location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→</a:t>
            </a:r>
            <a:r>
              <a:rPr lang="en-US" sz="240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geo_point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dropoff_location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→</a:t>
            </a:r>
            <a:r>
              <a:rPr lang="en-US" sz="240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geo_point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endParaRPr lang="en-US" sz="2400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137AE3-7D06-91C3-941C-613F2F232608}"/>
              </a:ext>
            </a:extLst>
          </p:cNvPr>
          <p:cNvSpPr txBox="1"/>
          <p:nvPr/>
        </p:nvSpPr>
        <p:spPr>
          <a:xfrm>
            <a:off x="5821405" y="4534244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Purpose: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Elasticsearch stored </a:t>
            </a:r>
            <a:r>
              <a:rPr lang="en-US" sz="24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and indexed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the cleaned taxi data </a:t>
            </a:r>
            <a:r>
              <a:rPr lang="en-US" sz="24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so it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could be searched, analyzed,</a:t>
            </a:r>
            <a:r>
              <a:rPr lang="en-US" sz="24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and visualized in Kibana.</a:t>
            </a:r>
          </a:p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22759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7E431-B24F-A402-2BA8-3CC9AFC5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9A11F-720C-7B52-BF3D-D92BCDD8F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CE4FEE-04A8-05AD-8396-2B0535810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00B38-7A9C-6416-F1C2-AA4A29638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27A0D6-8A08-8878-8857-4E05C5448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B8FE0B-C67E-4783-4D61-F859B7154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F2B25-3E2F-ABE5-9807-CB0CCCB2A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Kibana Dashboard Overview</a:t>
            </a:r>
            <a:endParaRPr lang="en-US"/>
          </a:p>
        </p:txBody>
      </p:sp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8CD5B7-2867-3B5E-1677-56C4FBB48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344" y="1590098"/>
            <a:ext cx="12200689" cy="5265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C5FD01-3C66-AFED-E422-9CD1252F0895}"/>
              </a:ext>
            </a:extLst>
          </p:cNvPr>
          <p:cNvSpPr txBox="1"/>
          <p:nvPr/>
        </p:nvSpPr>
        <p:spPr>
          <a:xfrm>
            <a:off x="6608164" y="5277787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Dashboard includes:</a:t>
            </a:r>
            <a:br>
              <a:rPr lang="en-US"/>
            </a:br>
            <a:r>
              <a:rPr lang="en-US"/>
              <a:t>• 4 chart visualizations</a:t>
            </a:r>
            <a:br>
              <a:rPr lang="en-US"/>
            </a:br>
            <a:r>
              <a:rPr lang="en-US"/>
              <a:t>• 1 geo-temporal map</a:t>
            </a:r>
            <a:br>
              <a:rPr lang="en-US"/>
            </a:br>
            <a:r>
              <a:rPr lang="en-US"/>
              <a:t>• Time range: March 2026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40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0FF4C-3630-8B1D-DD9D-8DA095E2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67E4E4-DE71-D91E-08F3-00F447D1A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8F18B0-06A6-0BB7-E0B0-A30B578CE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D8AABA-C937-1A58-2B14-AD9E5F8B6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071827-B569-081C-FADC-B35104580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ADC862-40A0-1958-6DA9-9BC5CF631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B403E-4161-33CA-53D2-58B928EB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Key Dashboard Insights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90917F-6659-4B60-CB8A-C3F7EDAA92FE}"/>
              </a:ext>
            </a:extLst>
          </p:cNvPr>
          <p:cNvSpPr txBox="1"/>
          <p:nvPr/>
        </p:nvSpPr>
        <p:spPr>
          <a:xfrm>
            <a:off x="4057136" y="1712784"/>
            <a:ext cx="203886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Trip Count by Pickup Hour</a:t>
            </a:r>
            <a:br>
              <a:rPr lang="en-US"/>
            </a:br>
            <a:r>
              <a:rPr lang="en-US"/>
              <a:t>Demand increases after morning hours and peaks later in the day.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AE527-3406-F10F-599E-3E26B048485A}"/>
              </a:ext>
            </a:extLst>
          </p:cNvPr>
          <p:cNvSpPr txBox="1"/>
          <p:nvPr/>
        </p:nvSpPr>
        <p:spPr>
          <a:xfrm>
            <a:off x="9679458" y="1589216"/>
            <a:ext cx="221048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Average Trip Distance by Pickup Hour</a:t>
            </a:r>
            <a:br>
              <a:rPr lang="en-US"/>
            </a:br>
            <a:r>
              <a:rPr lang="en-US"/>
              <a:t>Early morning trips show the longest average distance.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4CCC72-40BA-0124-5096-00C92116C316}"/>
              </a:ext>
            </a:extLst>
          </p:cNvPr>
          <p:cNvSpPr txBox="1"/>
          <p:nvPr/>
        </p:nvSpPr>
        <p:spPr>
          <a:xfrm>
            <a:off x="4276811" y="4177270"/>
            <a:ext cx="160637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Average Fare by Pickup Hour</a:t>
            </a:r>
            <a:br>
              <a:rPr lang="en-US"/>
            </a:br>
            <a:r>
              <a:rPr lang="en-US">
                <a:ea typeface="+mn-lt"/>
                <a:cs typeface="+mn-lt"/>
              </a:rPr>
              <a:t>Average fare spikes around early morning hours.</a:t>
            </a:r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D4E79D-E46C-4F20-F435-371AA439E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" y="1655162"/>
            <a:ext cx="3940175" cy="2092325"/>
          </a:xfrm>
          <a:prstGeom prst="rect">
            <a:avLst/>
          </a:prstGeom>
        </p:spPr>
      </p:pic>
      <p:pic>
        <p:nvPicPr>
          <p:cNvPr id="19" name="Picture 18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E4AFEEA1-E8F7-3BAF-E543-BFA159FEF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1" y="4102385"/>
            <a:ext cx="4039660" cy="2453217"/>
          </a:xfrm>
          <a:prstGeom prst="rect">
            <a:avLst/>
          </a:prstGeom>
        </p:spPr>
      </p:pic>
      <p:pic>
        <p:nvPicPr>
          <p:cNvPr id="21" name="Content Placeholder 5">
            <a:extLst>
              <a:ext uri="{FF2B5EF4-FFF2-40B4-BE49-F238E27FC236}">
                <a16:creationId xmlns:a16="http://schemas.microsoft.com/office/drawing/2014/main" id="{2FF8B96C-060D-FD3D-8D4E-B5B6F326A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991311" y="4211102"/>
            <a:ext cx="4705865" cy="253914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121262E-4C25-36F8-0AC1-0D767117EF28}"/>
              </a:ext>
            </a:extLst>
          </p:cNvPr>
          <p:cNvSpPr txBox="1"/>
          <p:nvPr/>
        </p:nvSpPr>
        <p:spPr>
          <a:xfrm>
            <a:off x="10695460" y="4101756"/>
            <a:ext cx="152400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Top Pickup Location IDs</a:t>
            </a:r>
            <a:br>
              <a:rPr lang="en-US"/>
            </a:br>
            <a:r>
              <a:rPr lang="en-US"/>
              <a:t>Pickup Location IDs 237, 132, 161, and 236 show the highest activity.</a:t>
            </a:r>
          </a:p>
          <a:p>
            <a:pPr algn="ctr"/>
            <a:endParaRPr lang="en-US"/>
          </a:p>
        </p:txBody>
      </p:sp>
      <p:pic>
        <p:nvPicPr>
          <p:cNvPr id="20" name="Picture 19" descr="A graph with a line&#10;&#10;AI-generated content may be incorrect.">
            <a:extLst>
              <a:ext uri="{FF2B5EF4-FFF2-40B4-BE49-F238E27FC236}">
                <a16:creationId xmlns:a16="http://schemas.microsoft.com/office/drawing/2014/main" id="{E0E72C88-330C-402B-819B-15F45A7ED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766" y="1599671"/>
            <a:ext cx="3596217" cy="189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5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7F8C2-6FC1-74E5-7B33-3A7AF95B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0E5207-515B-BB54-923C-51175167A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CBE566-FE75-B021-AB5F-CDE2D190A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BC87FF-63EA-5C32-328A-7A395A820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9BFA07-86B5-2244-ACD9-81969C39D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C0E271-EC25-03DA-F983-F160878D5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CDCDC-5659-01CE-BADD-D4A02A6F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Geo-Temporal Map Analysis</a:t>
            </a:r>
            <a:endParaRPr lang="en-US"/>
          </a:p>
        </p:txBody>
      </p:sp>
      <p:pic>
        <p:nvPicPr>
          <p:cNvPr id="7" name="Picture 6" descr="A map of a city&#10;&#10;AI-generated content may be incorrect.">
            <a:extLst>
              <a:ext uri="{FF2B5EF4-FFF2-40B4-BE49-F238E27FC236}">
                <a16:creationId xmlns:a16="http://schemas.microsoft.com/office/drawing/2014/main" id="{13F055EF-7F46-E5DA-40B8-66E644C0A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7" y="1718302"/>
            <a:ext cx="8875184" cy="46363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AB8BA2-6F36-EEFE-AEF1-E6E101DFDD21}"/>
              </a:ext>
            </a:extLst>
          </p:cNvPr>
          <p:cNvSpPr txBox="1"/>
          <p:nvPr/>
        </p:nvSpPr>
        <p:spPr>
          <a:xfrm>
            <a:off x="8873207" y="1716074"/>
            <a:ext cx="3211737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Map Setup:</a:t>
            </a:r>
            <a:br>
              <a:rPr lang="en-US" sz="2000"/>
            </a:br>
            <a:r>
              <a:rPr lang="en-US" sz="2000"/>
              <a:t>• Data view: nyc_taxi_geo2</a:t>
            </a:r>
            <a:br>
              <a:rPr lang="en-US" sz="2000"/>
            </a:br>
            <a:r>
              <a:rPr lang="en-US" sz="2000"/>
              <a:t>• Geo field: </a:t>
            </a:r>
            <a:r>
              <a:rPr lang="en-US" sz="2000" err="1"/>
              <a:t>pickup_location</a:t>
            </a:r>
            <a:br>
              <a:rPr lang="en-US" sz="2000"/>
            </a:br>
            <a:r>
              <a:rPr lang="en-US" sz="2000"/>
              <a:t>• Time range: March 2026</a:t>
            </a:r>
            <a:br>
              <a:rPr lang="en-US" sz="2000"/>
            </a:br>
            <a:r>
              <a:rPr lang="en-US" sz="2000"/>
              <a:t>• Joined </a:t>
            </a:r>
            <a:r>
              <a:rPr lang="en-US" sz="2000" err="1"/>
              <a:t>PULocationID</a:t>
            </a:r>
            <a:r>
              <a:rPr lang="en-US" sz="2000"/>
              <a:t> with NYC taxi zone shapefile</a:t>
            </a: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D323E-72DF-E40D-988B-855D4B21AEA2}"/>
              </a:ext>
            </a:extLst>
          </p:cNvPr>
          <p:cNvSpPr txBox="1"/>
          <p:nvPr/>
        </p:nvSpPr>
        <p:spPr>
          <a:xfrm>
            <a:off x="8873207" y="4304355"/>
            <a:ext cx="3173951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Main Insight:</a:t>
            </a:r>
            <a:br>
              <a:rPr lang="en-US" sz="2000"/>
            </a:br>
            <a:r>
              <a:rPr lang="en-US" sz="2000"/>
              <a:t>Pickup activity is concentrated around Manhattan, Queens, Brooklyn, and airport-related zones.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18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71A77-9D5D-2D74-2EEA-99FF9F5F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873B0C-9C5A-E50C-A704-C9848E1FF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D7564C-12B9-3F86-944B-92C2CEE9C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54F071-72B3-6000-FB8F-1B5D79B70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1EBF81-4C30-4FD3-1191-7E914D899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8753F1-D861-B85A-C225-997258081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0C6F1-9100-CD0D-348F-AA718F9F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Machine Learning Regression Results</a:t>
            </a:r>
            <a:endParaRPr lang="en-US"/>
          </a:p>
        </p:txBody>
      </p:sp>
      <p:pic>
        <p:nvPicPr>
          <p:cNvPr id="4" name="Picture 3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6CAAD7B4-605E-9609-B439-CB2C9FDF4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2466"/>
            <a:ext cx="12192000" cy="12598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B69DE1-1DCA-7335-6497-68CEE2F5F381}"/>
              </a:ext>
            </a:extLst>
          </p:cNvPr>
          <p:cNvSpPr txBox="1"/>
          <p:nvPr/>
        </p:nvSpPr>
        <p:spPr>
          <a:xfrm>
            <a:off x="89243" y="3236784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Goal:</a:t>
            </a:r>
            <a:br>
              <a:rPr lang="en-US"/>
            </a:br>
            <a:r>
              <a:rPr lang="en-US"/>
              <a:t>Predict taxi fare amount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64713-5FC9-AC9C-8008-F9450059C7B7}"/>
              </a:ext>
            </a:extLst>
          </p:cNvPr>
          <p:cNvSpPr txBox="1"/>
          <p:nvPr/>
        </p:nvSpPr>
        <p:spPr>
          <a:xfrm>
            <a:off x="3137243" y="3236784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Model Type:</a:t>
            </a:r>
            <a:br>
              <a:rPr lang="en-US"/>
            </a:br>
            <a:r>
              <a:rPr lang="en-US"/>
              <a:t>Regression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2CE274-8818-6DA2-A853-95A9744B6845}"/>
              </a:ext>
            </a:extLst>
          </p:cNvPr>
          <p:cNvSpPr txBox="1"/>
          <p:nvPr/>
        </p:nvSpPr>
        <p:spPr>
          <a:xfrm>
            <a:off x="5224162" y="3099486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 Split:</a:t>
            </a:r>
            <a:br>
              <a:rPr lang="en-US"/>
            </a:br>
            <a:r>
              <a:rPr lang="en-US"/>
              <a:t>• 80,000 training records</a:t>
            </a:r>
            <a:br>
              <a:rPr lang="en-US"/>
            </a:br>
            <a:r>
              <a:rPr lang="en-US"/>
              <a:t>• 20,000 testing records</a:t>
            </a: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1BAD3-1702-9EEC-712E-0DDD116AAC6D}"/>
              </a:ext>
            </a:extLst>
          </p:cNvPr>
          <p:cNvSpPr txBox="1"/>
          <p:nvPr/>
        </p:nvSpPr>
        <p:spPr>
          <a:xfrm>
            <a:off x="171622" y="4376351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Key Results:</a:t>
            </a:r>
            <a:br>
              <a:rPr lang="en-US"/>
            </a:br>
            <a:r>
              <a:rPr lang="en-US"/>
              <a:t>• Testing R² score: 0.927</a:t>
            </a:r>
            <a:br>
              <a:rPr lang="en-US"/>
            </a:br>
            <a:r>
              <a:rPr lang="en-US"/>
              <a:t>• Training R² score: 0.94</a:t>
            </a:r>
            <a:br>
              <a:rPr lang="en-US"/>
            </a:br>
            <a:r>
              <a:rPr lang="en-US"/>
              <a:t>• Testing mean squared error: 19.9</a:t>
            </a:r>
            <a:br>
              <a:rPr lang="en-US"/>
            </a:br>
            <a:r>
              <a:rPr lang="en-US"/>
              <a:t>• Prediction field: ml.fare_amount_prediction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AAD72C-07D2-0DB0-85E9-2D8AF4C69408}"/>
              </a:ext>
            </a:extLst>
          </p:cNvPr>
          <p:cNvSpPr txBox="1"/>
          <p:nvPr/>
        </p:nvSpPr>
        <p:spPr>
          <a:xfrm>
            <a:off x="5066270" y="4829432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Interpretation:</a:t>
            </a:r>
            <a:br>
              <a:rPr lang="en-US"/>
            </a:br>
            <a:r>
              <a:rPr lang="en-US"/>
              <a:t>The model explained about 92.7% of the variation in fare_amount on test data.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166ABD-393B-55AC-FED7-5A74BCA637B4}"/>
              </a:ext>
            </a:extLst>
          </p:cNvPr>
          <p:cNvSpPr txBox="1"/>
          <p:nvPr/>
        </p:nvSpPr>
        <p:spPr>
          <a:xfrm>
            <a:off x="286634" y="626186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71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A2F3D-8465-6A1D-0DA0-D624F944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E805ED-32B9-5941-DC88-C6890F05F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05CB0-569C-7FEB-7E89-F03D29E5B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2DC555-9ED4-358C-26E7-460E306E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57A525-2062-40F7-15AB-AC54C0015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64DF0-98A8-BA46-5096-E87ED163B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84F34-67D9-2B9E-945C-8B4E8030C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GitHub and Project Deliverables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5936C-315E-59AE-DF33-AF4FD3B2086D}"/>
              </a:ext>
            </a:extLst>
          </p:cNvPr>
          <p:cNvSpPr txBox="1"/>
          <p:nvPr/>
        </p:nvSpPr>
        <p:spPr>
          <a:xfrm>
            <a:off x="185352" y="1815756"/>
            <a:ext cx="558113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GitHub Repository:</a:t>
            </a:r>
            <a:br>
              <a:rPr lang="en-US" sz="2400"/>
            </a:br>
            <a:r>
              <a:rPr lang="en-US" sz="2400">
                <a:ea typeface="+mn-lt"/>
                <a:cs typeface="+mn-lt"/>
                <a:hlinkClick r:id="rId2"/>
              </a:rPr>
              <a:t>https://github.com/edwaaardgee/</a:t>
            </a:r>
            <a:endParaRPr lang="en-US" sz="2400">
              <a:ea typeface="+mn-lt"/>
              <a:cs typeface="+mn-lt"/>
            </a:endParaRPr>
          </a:p>
          <a:p>
            <a:r>
              <a:rPr lang="en-US" sz="2400" err="1">
                <a:ea typeface="+mn-lt"/>
                <a:cs typeface="+mn-lt"/>
              </a:rPr>
              <a:t>nyc</a:t>
            </a:r>
            <a:r>
              <a:rPr lang="en-US" sz="2400">
                <a:ea typeface="+mn-lt"/>
                <a:cs typeface="+mn-lt"/>
              </a:rPr>
              <a:t>-taxi-</a:t>
            </a:r>
            <a:r>
              <a:rPr lang="en-US" sz="2400" err="1">
                <a:ea typeface="+mn-lt"/>
                <a:cs typeface="+mn-lt"/>
              </a:rPr>
              <a:t>elasticsearch</a:t>
            </a:r>
            <a:r>
              <a:rPr lang="en-US" sz="2400">
                <a:ea typeface="+mn-lt"/>
                <a:cs typeface="+mn-lt"/>
              </a:rPr>
              <a:t>-project</a:t>
            </a:r>
            <a:br>
              <a:rPr lang="en-US" sz="2400"/>
            </a:br>
            <a:br>
              <a:rPr lang="en-US" sz="2400"/>
            </a:br>
            <a:r>
              <a:rPr lang="en-US" sz="2400"/>
              <a:t>Repository Includes:</a:t>
            </a:r>
            <a:br>
              <a:rPr lang="en-US" sz="2400"/>
            </a:br>
            <a:r>
              <a:rPr lang="en-US" sz="2400"/>
              <a:t>• Python data preparation code</a:t>
            </a:r>
            <a:br>
              <a:rPr lang="en-US" sz="2400"/>
            </a:br>
            <a:r>
              <a:rPr lang="en-US" sz="2400"/>
              <a:t>• Geo-field creation code</a:t>
            </a:r>
            <a:br>
              <a:rPr lang="en-US" sz="2400"/>
            </a:br>
            <a:r>
              <a:rPr lang="en-US" sz="2400"/>
              <a:t>• README tutorial / replication steps</a:t>
            </a:r>
            <a:br>
              <a:rPr lang="en-US" sz="2400"/>
            </a:br>
            <a:r>
              <a:rPr lang="en-US" sz="2400"/>
              <a:t>• Dataset source instructions</a:t>
            </a:r>
            <a:br>
              <a:rPr lang="en-US" sz="2400"/>
            </a:br>
            <a:r>
              <a:rPr lang="en-US" sz="2400"/>
              <a:t>• Kibana dashboard and map </a:t>
            </a:r>
            <a:r>
              <a:rPr lang="en-US" sz="2400">
                <a:ea typeface="+mn-lt"/>
                <a:cs typeface="+mn-lt"/>
              </a:rPr>
              <a:t>creation steps</a:t>
            </a:r>
            <a:br>
              <a:rPr lang="en-US" sz="2400"/>
            </a:b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97D6D-B4B3-3694-1498-576F5DA7517B}"/>
              </a:ext>
            </a:extLst>
          </p:cNvPr>
          <p:cNvSpPr txBox="1"/>
          <p:nvPr/>
        </p:nvSpPr>
        <p:spPr>
          <a:xfrm>
            <a:off x="6185518" y="5757836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</a:t>
            </a:r>
            <a:r>
              <a:rPr lang="en-US" b="1"/>
              <a:t>README</a:t>
            </a:r>
            <a:r>
              <a:rPr lang="en-US"/>
              <a:t> explains how to download the data, run the scripts, upload to Elasticsearch, and recreate the Kibana dashboard.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55507-CB0B-4873-DDED-343B5C2D20A2}"/>
              </a:ext>
            </a:extLst>
          </p:cNvPr>
          <p:cNvSpPr txBox="1"/>
          <p:nvPr/>
        </p:nvSpPr>
        <p:spPr>
          <a:xfrm>
            <a:off x="6096000" y="1712783"/>
            <a:ext cx="6507891" cy="40523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975"/>
              </a:lnSpc>
            </a:pPr>
            <a:r>
              <a:rPr lang="en-US" sz="2400"/>
              <a:t>Reproducibility Test:​</a:t>
            </a:r>
            <a:br>
              <a:rPr lang="en-US" sz="2400"/>
            </a:br>
            <a:r>
              <a:rPr lang="en-US" sz="2400"/>
              <a:t>• prepare_taxi_data.py </a:t>
            </a:r>
            <a:r>
              <a:rPr lang="en-US" sz="2400">
                <a:ea typeface="+mn-lt"/>
                <a:cs typeface="+mn-lt"/>
              </a:rPr>
              <a:t>successfully recreated</a:t>
            </a:r>
            <a:r>
              <a:rPr lang="en-US" sz="2400"/>
              <a:t> nyc_taxi_subset.csv​</a:t>
            </a:r>
            <a:endParaRPr lang="en-US"/>
          </a:p>
          <a:p>
            <a:pPr>
              <a:lnSpc>
                <a:spcPts val="3975"/>
              </a:lnSpc>
            </a:pPr>
            <a:br>
              <a:rPr lang="en-US" sz="2400"/>
            </a:br>
            <a:r>
              <a:rPr lang="en-US" sz="2400"/>
              <a:t>• add_geo_fields.py </a:t>
            </a:r>
            <a:r>
              <a:rPr lang="en-US" sz="2400">
                <a:ea typeface="+mn-lt"/>
                <a:cs typeface="+mn-lt"/>
              </a:rPr>
              <a:t>successfully recreated</a:t>
            </a:r>
            <a:r>
              <a:rPr lang="en-US" sz="2400"/>
              <a:t> nyc_taxi_subset_with_geo.csv​</a:t>
            </a:r>
            <a:endParaRPr lang="en-US"/>
          </a:p>
          <a:p>
            <a:pPr algn="ctr" rtl="0">
              <a:lnSpc>
                <a:spcPts val="3975"/>
              </a:lnSpc>
            </a:pPr>
            <a:r>
              <a:rPr lang="en-US" sz="2400"/>
              <a:t>​</a:t>
            </a:r>
          </a:p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45217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6C9C4-DE64-2C09-2876-4D7245C3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A855A9-4F61-2C1E-2321-7DF3C5647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2D8536-356B-6D03-5D88-6E7EAF1FE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D839EC-7ADE-566E-1849-C843ED8F4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2E5DC6-35AA-EAB6-459E-4B096E68F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F81F0C-BD55-E2C0-BB62-2D6F25CC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BA6CD-B703-BB7A-D814-B82B09ED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F596-9BA0-9D9F-CEDF-576CA00C7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Elasticsearch and Kibana enabled efficient analysis of large taxi data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Visualization revealed patterns in demand, distance, and fare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Machine learning successfully predicted fare with high accuracy (R² ≈ 0.93)</a:t>
            </a:r>
            <a:endParaRPr lang="en-US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98719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757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NYC Taxi Trip Data Analysis</vt:lpstr>
      <vt:lpstr>Dataset and Data Source</vt:lpstr>
      <vt:lpstr>Platform / Environment Specs</vt:lpstr>
      <vt:lpstr>Workflow / Architecture</vt:lpstr>
      <vt:lpstr>Elasticsearch Upload and Indexing</vt:lpstr>
      <vt:lpstr>Kibana Dashboard Overview</vt:lpstr>
      <vt:lpstr>Key Dashboard Insights</vt:lpstr>
      <vt:lpstr>Geo-Temporal Map Analysis</vt:lpstr>
      <vt:lpstr>Machine Learning Regression Results</vt:lpstr>
      <vt:lpstr>GitHub and Project Deliverables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</dc:creator>
  <cp:lastModifiedBy>Gallegos, Edward</cp:lastModifiedBy>
  <cp:revision>8</cp:revision>
  <dcterms:created xsi:type="dcterms:W3CDTF">2026-05-04T05:11:07Z</dcterms:created>
  <dcterms:modified xsi:type="dcterms:W3CDTF">2026-05-16T21:52:31Z</dcterms:modified>
</cp:coreProperties>
</file>